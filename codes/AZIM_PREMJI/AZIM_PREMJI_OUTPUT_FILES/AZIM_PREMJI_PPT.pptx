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officeDocument/2006/relationships/extended-properties" Target="docProps/app.xml"/>
<Relationship Id="rId2" Type="http://schemas.openxmlformats.org/package/2006/relationships/metadata/core-properties" Target="docProps/core.xml"/>
<Relationship Id="rId1" Type="http://schemas.openxmlformats.org/officeDocument/2006/relationships/officeDocument" Target="ppt/presentation.xml"/>
<Relationship Id="rId4" Type="http://schemas.openxmlformats.org/officeDocument/2006/relationships/custom-properties" Target="docProps/custom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</p:sldIdLst>
  <p:sldSz cx="9906000" cy="6858000" type="A4"/>
  <p:notesSz cx="9926638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riram Mahadevan" initials="SM" lastIdx="1" clrIdx="0">
    <p:extLst>
      <p:ext uri="{19B8F6BF-5375-455C-9EA6-DF929625EA0E}">
        <p15:presenceInfo xmlns:p15="http://schemas.microsoft.com/office/powerpoint/2012/main" userId="Sriram Mahadev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993300"/>
    <a:srgbClr val="CC00CC"/>
    <a:srgbClr val="0033CC"/>
    <a:srgbClr val="0066FF"/>
    <a:srgbClr val="33CC33"/>
    <a:srgbClr val="99FF33"/>
    <a:srgbClr val="FFFFCC"/>
    <a:srgbClr val="FF9900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90" autoAdjust="0"/>
    <p:restoredTop sz="94189" autoAdjust="0"/>
  </p:normalViewPr>
  <p:slideViewPr>
    <p:cSldViewPr>
      <p:cViewPr varScale="1">
        <p:scale>
          <a:sx n="86" d="100"/>
          <a:sy n="86" d="100"/>
        </p:scale>
        <p:origin x="754" y="48"/>
      </p:cViewPr>
      <p:guideLst>
        <p:guide orient="horz" pos="2112"/>
        <p:guide pos="31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1848" y="53"/>
      </p:cViewPr>
      <p:guideLst>
        <p:guide orient="horz" pos="2141"/>
        <p:guide pos="3127"/>
      </p:guideLst>
    </p:cSldViewPr>
  </p:notesViewPr>
  <p:gridSpacing cx="38405" cy="38405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3" Type="http://schemas.openxmlformats.org/officeDocument/2006/relationships/customXml" Target="../customXml/item3.xml"/>
<Relationship Id="rId7" Type="http://schemas.openxmlformats.org/officeDocument/2006/relationships/commentAuthors" Target="commentAuthors.xml"/>
<Relationship Id="rId2" Type="http://schemas.openxmlformats.org/officeDocument/2006/relationships/customXml" Target="../customXml/item2.xml"/>
<Relationship Id="rId1" Type="http://schemas.openxmlformats.org/officeDocument/2006/relationships/customXml" Target="../customXml/item1.xml"/>
<Relationship Id="rId6" Type="http://schemas.openxmlformats.org/officeDocument/2006/relationships/handoutMaster" Target="handoutMasters/handoutMaster1.xml"/>
<Relationship Id="rId11" Type="http://schemas.openxmlformats.org/officeDocument/2006/relationships/tableStyles" Target="tableStyles.xml"/>
<Relationship Id="rId5" Type="http://schemas.openxmlformats.org/officeDocument/2006/relationships/notesMaster" Target="notesMasters/notesMaster1.xml"/>
<Relationship Id="rId10" Type="http://schemas.openxmlformats.org/officeDocument/2006/relationships/theme" Target="theme/theme1.xml"/>
<Relationship Id="rId4" Type="http://schemas.openxmlformats.org/officeDocument/2006/relationships/slideMaster" Target="slideMasters/slideMaster1.xml"/>
<Relationship Id="rId9" Type="http://schemas.openxmlformats.org/officeDocument/2006/relationships/viewProps" Target="viewProps.xml"/>
<Relationship Id="rId12" Type="http://schemas.openxmlformats.org/officeDocument/2006/relationships/slide" Target="slides/slide1.xml"/>
<Relationship Id="rId13" Type="http://schemas.openxmlformats.org/officeDocument/2006/relationships/slide" Target="slides/slide2.xml"/>
<Relationship Id="rId14" Type="http://schemas.openxmlformats.org/officeDocument/2006/relationships/slide" Target="slides/slide3.xml"/>
<Relationship Id="rId15" Type="http://schemas.openxmlformats.org/officeDocument/2006/relationships/slide" Target="slides/slide4.xml"/>
<Relationship Id="rId16" Type="http://schemas.openxmlformats.org/officeDocument/2006/relationships/slide" Target="slides/slide5.xml"/>
<Relationship Id="rId17" Type="http://schemas.openxmlformats.org/officeDocument/2006/relationships/slide" Target="slides/slide6.xml"/>
<Relationship Id="rId18" Type="http://schemas.openxmlformats.org/officeDocument/2006/relationships/slide" Target="slides/slide7.xml"/>
<Relationship Id="rId19" Type="http://schemas.openxmlformats.org/officeDocument/2006/relationships/slide" Target="slides/slide8.xml"/>
<Relationship Id="rId20" Type="http://schemas.openxmlformats.org/officeDocument/2006/relationships/slide" Target="slides/slide9.xml"/>
<Relationship Id="rId21" Type="http://schemas.openxmlformats.org/officeDocument/2006/relationships/slide" Target="slides/slide10.xml"/>
<Relationship Id="rId22" Type="http://schemas.openxmlformats.org/officeDocument/2006/relationships/slide" Target="slides/slide11.xml"/>
<Relationship Id="rId23" Type="http://schemas.openxmlformats.org/officeDocument/2006/relationships/slide" Target="slides/slide12.xml"/>
<Relationship Id="rId24" Type="http://schemas.openxmlformats.org/officeDocument/2006/relationships/slide" Target="slides/slide13.xml"/>
<Relationship Id="rId25" Type="http://schemas.openxmlformats.org/officeDocument/2006/relationships/slide" Target="slides/slide14.xml"/>
<Relationship Id="rId26" Type="http://schemas.openxmlformats.org/officeDocument/2006/relationships/slide" Target="slides/slide15.xml"/>
<Relationship Id="rId27" Type="http://schemas.openxmlformats.org/officeDocument/2006/relationships/slide" Target="slides/slide16.xml"/>
<Relationship Id="rId28" Type="http://schemas.openxmlformats.org/officeDocument/2006/relationships/slide" Target="slides/slide17.xml"/>
<Relationship Id="rId29" Type="http://schemas.openxmlformats.org/officeDocument/2006/relationships/slide" Target="slides/slide18.xml"/>
<Relationship Id="rId30" Type="http://schemas.openxmlformats.org/officeDocument/2006/relationships/slide" Target="slides/slide19.xml"/>
<Relationship Id="rId31" Type="http://schemas.openxmlformats.org/officeDocument/2006/relationships/slide" Target="slides/slide20.xml"/>
<Relationship Id="rId32" Type="http://schemas.openxmlformats.org/officeDocument/2006/relationships/slide" Target="slides/slide21.xml"/>
<Relationship Id="rId33" Type="http://schemas.openxmlformats.org/officeDocument/2006/relationships/slide" Target="slides/slide22.xml"/>
<Relationship Id="rId34" Type="http://schemas.openxmlformats.org/officeDocument/2006/relationships/slide" Target="slides/slide23.xml"/>
<Relationship Id="rId35" Type="http://schemas.openxmlformats.org/officeDocument/2006/relationships/slide" Target="slides/slide24.xml"/>
<Relationship Id="rId36" Type="http://schemas.openxmlformats.org/officeDocument/2006/relationships/slide" Target="slides/slide25.xml"/>
<Relationship Id="rId37" Type="http://schemas.openxmlformats.org/officeDocument/2006/relationships/slide" Target="slides/slide26.xml"/>
<Relationship Id="rId38" Type="http://schemas.openxmlformats.org/officeDocument/2006/relationships/slide" Target="slides/slide27.xml"/>
<Relationship Id="rId39" Type="http://schemas.openxmlformats.org/officeDocument/2006/relationships/slide" Target="slides/slide2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1696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ill Sans MT"/>
              </a:defRPr>
            </a:lvl1pPr>
          </a:lstStyle>
          <a:p>
            <a:pPr>
              <a:defRPr/>
            </a:pPr>
            <a:fld id="{FF6D5B5C-A739-44BB-A5D1-C9AE4A77D566}" type="datetimeFigureOut">
              <a:rPr lang="en-US"/>
              <a:pPr>
                <a:defRPr/>
              </a:pPr>
              <a:t>6/24/2024</a:t>
            </a:fld>
            <a:endParaRPr lang="en-US" dirty="0"/>
          </a:p>
        </p:txBody>
      </p:sp>
      <p:sp>
        <p:nvSpPr>
          <p:cNvPr id="2232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32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1696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ill Sans MT"/>
              </a:defRPr>
            </a:lvl1pPr>
          </a:lstStyle>
          <a:p>
            <a:pPr>
              <a:defRPr/>
            </a:pPr>
            <a:fld id="{967171D5-33D9-4AD7-A4B4-FA32A195DB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63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FF52E82-81E9-4849-85B2-7E13DDB45A0F}" type="datetimeFigureOut">
              <a:rPr lang="en-US"/>
              <a:pPr>
                <a:defRPr/>
              </a:pPr>
              <a:t>6/24/2024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22613" y="509588"/>
            <a:ext cx="36814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201" y="3228705"/>
            <a:ext cx="7942238" cy="3059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24"/>
            <a:ext cx="4302625" cy="34026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1696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C74183B-9758-4498-B719-3B90EF8C1E7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0380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3F0C-1910-718F-6363-8B4E0D3D4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084825"/>
            <a:ext cx="8915400" cy="2803565"/>
          </a:xfrm>
        </p:spPr>
        <p:txBody>
          <a:bodyPr/>
          <a:lstStyle>
            <a:lvl1pPr algn="ctr">
              <a:defRPr sz="3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B9C013-0595-D4D4-4C3A-C14515125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89B74-F7D4-4336-B957-705510393D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F1BBA18-D85F-AC42-3F55-827D5F1F9A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3000" y="5118820"/>
            <a:ext cx="4860000" cy="384050"/>
          </a:xfrm>
          <a:prstGeom prst="rect">
            <a:avLst/>
          </a:prstGeom>
        </p:spPr>
        <p:txBody>
          <a:bodyPr wrap="none" lIns="0" tIns="0" rIns="0" bIns="0"/>
          <a:lstStyle>
            <a:lvl1pPr marL="0" indent="0" algn="ctr">
              <a:lnSpc>
                <a:spcPts val="1000"/>
              </a:lnSpc>
              <a:spcBef>
                <a:spcPts val="0"/>
              </a:spcBef>
              <a:buNone/>
              <a:defRPr sz="18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315320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_aj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 Placeholder 10">
            <a:extLst>
              <a:ext uri="{FF2B5EF4-FFF2-40B4-BE49-F238E27FC236}">
                <a16:creationId xmlns:a16="http://schemas.microsoft.com/office/drawing/2014/main" id="{7F82234B-BE2C-4AD1-FCDC-1DA257728DC4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574830" y="1211437"/>
            <a:ext cx="8871555" cy="498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36286FB-5501-B095-90AA-E13FB0FFD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56408554-5AA9-C399-8517-9FE34D6340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flipH="1">
            <a:off x="9328150" y="6477003"/>
            <a:ext cx="495300" cy="365125"/>
          </a:xfrm>
        </p:spPr>
        <p:txBody>
          <a:bodyPr/>
          <a:lstStyle/>
          <a:p>
            <a:pPr>
              <a:defRPr/>
            </a:pPr>
            <a:fld id="{AF489B74-F7D4-4336-B957-705510393D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6051FF47-1D3B-D225-A35D-E52F90192A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6AC478CF-1E9B-86D2-8231-CEB0B41589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slide_aj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30AA3-F816-C54E-4531-57C1FE621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89B74-F7D4-4336-B957-705510393D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Chart Placeholder 10">
            <a:extLst>
              <a:ext uri="{FF2B5EF4-FFF2-40B4-BE49-F238E27FC236}">
                <a16:creationId xmlns:a16="http://schemas.microsoft.com/office/drawing/2014/main" id="{001A6EC1-02B3-3CB8-D02D-DCF295F314DD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1210" y="1241945"/>
            <a:ext cx="9140390" cy="498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3AE6DA-CA97-39F0-295B-8B170454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8C5AC-C6E1-D0CD-FCDC-4A9953E1A089}"/>
              </a:ext>
            </a:extLst>
          </p:cNvPr>
          <p:cNvSpPr txBox="1"/>
          <p:nvPr userDrawn="1"/>
        </p:nvSpPr>
        <p:spPr>
          <a:xfrm>
            <a:off x="85147" y="6574939"/>
            <a:ext cx="175964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sz="1100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6F4066AF-02B8-1B64-34E8-2FE6111EF6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9186" y="6590788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7DC24F0A-B600-62EF-FE1D-DB97876F41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4872" y="6345027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806544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_big_slide_aj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30AA3-F816-C54E-4531-57C1FE621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89B74-F7D4-4336-B957-705510393D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Chart Placeholder 10">
            <a:extLst>
              <a:ext uri="{FF2B5EF4-FFF2-40B4-BE49-F238E27FC236}">
                <a16:creationId xmlns:a16="http://schemas.microsoft.com/office/drawing/2014/main" id="{001A6EC1-02B3-3CB8-D02D-DCF295F314DD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305995" y="1009485"/>
            <a:ext cx="9140390" cy="498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3AE6DA-CA97-39F0-295B-8B170454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8C5AC-C6E1-D0CD-FCDC-4A9953E1A089}"/>
              </a:ext>
            </a:extLst>
          </p:cNvPr>
          <p:cNvSpPr txBox="1"/>
          <p:nvPr userDrawn="1"/>
        </p:nvSpPr>
        <p:spPr>
          <a:xfrm>
            <a:off x="85147" y="6574939"/>
            <a:ext cx="175964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sz="1100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6F4066AF-02B8-1B64-34E8-2FE6111EF6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9186" y="6590788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BC54BB15-038E-8EF4-8251-39785BFD61C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0743" y="6340288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424481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2D97-0E26-F2E9-5C56-49332A5E7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12CA81-C366-2DA2-06CF-2E4DFFF721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89B74-F7D4-4336-B957-705510393D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Chart Placeholder 10">
            <a:extLst>
              <a:ext uri="{FF2B5EF4-FFF2-40B4-BE49-F238E27FC236}">
                <a16:creationId xmlns:a16="http://schemas.microsoft.com/office/drawing/2014/main" id="{7728AECC-34D0-6BE3-D575-50D5BBF7AB2F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382805" y="2468875"/>
            <a:ext cx="9140390" cy="2112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2D5B76D-D3BC-BD4D-D55B-B0EF92F777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0743" y="6340288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DE85A5CA-31D2-0D96-4076-8E8440C881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9186" y="6590788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14397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18BE-ED0E-F773-F270-8CAD64D5F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546317-D110-72F4-18BC-2B2A30646A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89B74-F7D4-4336-B957-705510393D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Chart Placeholder 10">
            <a:extLst>
              <a:ext uri="{FF2B5EF4-FFF2-40B4-BE49-F238E27FC236}">
                <a16:creationId xmlns:a16="http://schemas.microsoft.com/office/drawing/2014/main" id="{20BD0DB4-0660-AC42-EDC9-4889FAE27590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1210" y="1190537"/>
            <a:ext cx="9140390" cy="22638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5" name="Chart Placeholder 10">
            <a:extLst>
              <a:ext uri="{FF2B5EF4-FFF2-40B4-BE49-F238E27FC236}">
                <a16:creationId xmlns:a16="http://schemas.microsoft.com/office/drawing/2014/main" id="{F1B730C2-57B0-A7D3-A962-94449A65382F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421210" y="3824559"/>
            <a:ext cx="9140390" cy="22638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78BEC01-E1EA-2FF0-67AC-547AFB0030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8303" y="6659565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F1C099BC-FE00-207B-134C-EB1040694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8303" y="6411523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0A6410B5-AA7B-9B31-9A0A-707D1DE8BE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835" y="3586609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0295B65-BF99-CECE-F459-30D8F24B21C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8835" y="980656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4F452380-B452-D00E-1860-35D46257BC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303" y="6152647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3374134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_chart_aj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9328150" y="6477003"/>
            <a:ext cx="495300" cy="365125"/>
          </a:xfrm>
        </p:spPr>
        <p:txBody>
          <a:bodyPr/>
          <a:lstStyle>
            <a:lvl1pPr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14B669C4-C5FF-4CFD-9FBD-8E30D16247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100A5EE-8ED4-5F42-B6DE-D8B5E546E903}"/>
              </a:ext>
            </a:extLst>
          </p:cNvPr>
          <p:cNvSpPr txBox="1">
            <a:spLocks/>
          </p:cNvSpPr>
          <p:nvPr userDrawn="1"/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9pPr>
          </a:lstStyle>
          <a:p>
            <a:fld id="{876B725F-5D95-4426-955A-5CC87B0424AA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7CE96A1-BC51-A818-00F6-39230321430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65BBFE-F306-DCB2-7CD1-19642CDBFE5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hart Placeholder 17">
            <a:extLst>
              <a:ext uri="{FF2B5EF4-FFF2-40B4-BE49-F238E27FC236}">
                <a16:creationId xmlns:a16="http://schemas.microsoft.com/office/drawing/2014/main" id="{A8549F94-FD76-8880-4D59-94399FE72E3E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52375" y="1118830"/>
            <a:ext cx="4685405" cy="26209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4" name="Chart Placeholder 17">
            <a:extLst>
              <a:ext uri="{FF2B5EF4-FFF2-40B4-BE49-F238E27FC236}">
                <a16:creationId xmlns:a16="http://schemas.microsoft.com/office/drawing/2014/main" id="{00C810D7-BC37-5516-02C0-B180FEE521F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5068220" y="1120677"/>
            <a:ext cx="4685405" cy="26209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13E2EC-3309-E04B-7C46-8361D7C65852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1244775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hart Placeholder 17">
            <a:extLst>
              <a:ext uri="{FF2B5EF4-FFF2-40B4-BE49-F238E27FC236}">
                <a16:creationId xmlns:a16="http://schemas.microsoft.com/office/drawing/2014/main" id="{A4A14FCF-87ED-0C3C-633F-0835465C7D11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152375" y="3935700"/>
            <a:ext cx="4685405" cy="26209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7" name="Chart Placeholder 17">
            <a:extLst>
              <a:ext uri="{FF2B5EF4-FFF2-40B4-BE49-F238E27FC236}">
                <a16:creationId xmlns:a16="http://schemas.microsoft.com/office/drawing/2014/main" id="{D46294DF-153F-C7BC-238F-3780220837E7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5057240" y="3935299"/>
            <a:ext cx="4685405" cy="26209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BD083-3851-1643-C448-90C17EF00700}"/>
              </a:ext>
            </a:extLst>
          </p:cNvPr>
          <p:cNvSpPr txBox="1"/>
          <p:nvPr userDrawn="1"/>
        </p:nvSpPr>
        <p:spPr>
          <a:xfrm>
            <a:off x="85147" y="6574939"/>
            <a:ext cx="175964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62A7DF-D365-0090-F3BD-395A1A651A57}"/>
              </a:ext>
            </a:extLst>
          </p:cNvPr>
          <p:cNvSpPr txBox="1"/>
          <p:nvPr userDrawn="1"/>
        </p:nvSpPr>
        <p:spPr>
          <a:xfrm>
            <a:off x="82550" y="6658105"/>
            <a:ext cx="613450" cy="1571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B9CB4FE4-7AC2-698C-D013-9778E59854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234" y="6642893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slide_aj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E303D-5414-4F06-AA93-4DEF9B3807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1640E404-1D54-CA06-4C38-CA56DB0C4F41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52376" y="1118829"/>
            <a:ext cx="4685410" cy="47296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6" name="Chart Placeholder 17">
            <a:extLst>
              <a:ext uri="{FF2B5EF4-FFF2-40B4-BE49-F238E27FC236}">
                <a16:creationId xmlns:a16="http://schemas.microsoft.com/office/drawing/2014/main" id="{553174E6-06C6-4507-73C9-A267FD9E5DE3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5068216" y="1118829"/>
            <a:ext cx="4685410" cy="47296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EA77394C-DBFD-367E-C6C4-951F5496B0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376" y="6578880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97F5C-AF94-3BFB-614A-8DF942F46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2119B6-03C7-F812-334A-ADDA45DEE6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89B74-F7D4-4336-B957-705510393D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89DF4B5A-D356-967B-39DD-DED0CF677ECA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52375" y="1118830"/>
            <a:ext cx="4685405" cy="26209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Chart Placeholder 17">
            <a:extLst>
              <a:ext uri="{FF2B5EF4-FFF2-40B4-BE49-F238E27FC236}">
                <a16:creationId xmlns:a16="http://schemas.microsoft.com/office/drawing/2014/main" id="{072156A1-A9A1-0153-4FFA-C64A1E0475E8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5068220" y="1120677"/>
            <a:ext cx="4685405" cy="26209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6" name="Chart Placeholder 17">
            <a:extLst>
              <a:ext uri="{FF2B5EF4-FFF2-40B4-BE49-F238E27FC236}">
                <a16:creationId xmlns:a16="http://schemas.microsoft.com/office/drawing/2014/main" id="{79E47F95-3453-BF33-A3B1-D9E2863AD814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2725517" y="3944202"/>
            <a:ext cx="4685405" cy="26209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E20A1B34-80AB-0498-819A-2557CB5471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376" y="6578880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68179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4"/>
          <p:cNvSpPr>
            <a:spLocks noGrp="1"/>
          </p:cNvSpPr>
          <p:nvPr>
            <p:ph type="title"/>
          </p:nvPr>
        </p:nvSpPr>
        <p:spPr bwMode="auto">
          <a:xfrm>
            <a:off x="0" y="152400"/>
            <a:ext cx="8915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Text Placeholder 15"/>
          <p:cNvSpPr>
            <a:spLocks noGrp="1"/>
          </p:cNvSpPr>
          <p:nvPr>
            <p:ph type="body" idx="1"/>
          </p:nvPr>
        </p:nvSpPr>
        <p:spPr bwMode="auto">
          <a:xfrm>
            <a:off x="0" y="1143000"/>
            <a:ext cx="965835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076" name="Picture 3"/>
          <p:cNvPicPr>
            <a:picLocks noChangeAspect="1" noChangeArrowheads="1"/>
          </p:cNvPicPr>
          <p:nvPr/>
        </p:nvPicPr>
        <p:blipFill>
          <a:blip r:embed="rId11" cstate="print"/>
          <a:srcRect t="6766" r="-4958"/>
          <a:stretch>
            <a:fillRect/>
          </a:stretch>
        </p:blipFill>
        <p:spPr bwMode="auto">
          <a:xfrm>
            <a:off x="7924800" y="0"/>
            <a:ext cx="1857375" cy="74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flipH="1">
            <a:off x="9328150" y="6477003"/>
            <a:ext cx="495300" cy="365125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b="1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AF489B74-F7D4-4336-B957-705510393D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4"/>
          <p:cNvCxnSpPr/>
          <p:nvPr/>
        </p:nvCxnSpPr>
        <p:spPr>
          <a:xfrm>
            <a:off x="0" y="838200"/>
            <a:ext cx="9906000" cy="0"/>
          </a:xfrm>
          <a:prstGeom prst="line">
            <a:avLst/>
          </a:prstGeom>
          <a:ln w="76200" cmpd="thickThin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/>
          <p:cNvSpPr txBox="1">
            <a:spLocks/>
          </p:cNvSpPr>
          <p:nvPr/>
        </p:nvSpPr>
        <p:spPr>
          <a:xfrm flipH="1">
            <a:off x="39222" y="6629403"/>
            <a:ext cx="941283" cy="276999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92BB71-2831-24C1-E192-8103B2C899DD}"/>
              </a:ext>
            </a:extLst>
          </p:cNvPr>
          <p:cNvSpPr txBox="1"/>
          <p:nvPr userDrawn="1"/>
        </p:nvSpPr>
        <p:spPr>
          <a:xfrm>
            <a:off x="67558" y="6472796"/>
            <a:ext cx="111374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3C7DA147-133F-73DA-309C-B0A53B95E853}"/>
              </a:ext>
            </a:extLst>
          </p:cNvPr>
          <p:cNvSpPr txBox="1">
            <a:spLocks/>
          </p:cNvSpPr>
          <p:nvPr userDrawn="1"/>
        </p:nvSpPr>
        <p:spPr>
          <a:xfrm>
            <a:off x="8778737" y="6522629"/>
            <a:ext cx="921720" cy="269665"/>
          </a:xfrm>
          <a:prstGeom prst="rect">
            <a:avLst/>
          </a:prstGeom>
        </p:spPr>
        <p:txBody>
          <a:bodyPr wrap="none" lIns="0" tIns="0" rIns="0" bIns="0"/>
          <a:lstStyle>
            <a:lvl1pPr marL="0" indent="0" algn="l" rtl="0" eaLnBrk="0" fontAlgn="base" hangingPunct="0">
              <a:lnSpc>
                <a:spcPts val="1000"/>
              </a:lnSpc>
              <a:spcBef>
                <a:spcPts val="0"/>
              </a:spcBef>
              <a:spcAft>
                <a:spcPts val="600"/>
              </a:spcAft>
              <a:buNone/>
              <a:defRPr sz="11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indent="-350838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913" indent="-363538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1828800" algn="l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»"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8" r:id="rId2"/>
    <p:sldLayoutId id="2147483700" r:id="rId3"/>
    <p:sldLayoutId id="2147483703" r:id="rId4"/>
    <p:sldLayoutId id="2147483705" r:id="rId5"/>
    <p:sldLayoutId id="2147483704" r:id="rId6"/>
    <p:sldLayoutId id="2147483695" r:id="rId7"/>
    <p:sldLayoutId id="2147483696" r:id="rId8"/>
    <p:sldLayoutId id="2147483702" r:id="rId9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Gill Sans MT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Gill Sans MT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Gill Sans MT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Gill Sans MT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ts val="600"/>
        </a:spcAft>
        <a:buChar char="•"/>
        <a:defRPr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14375" indent="-350838" algn="l" rtl="0" eaLnBrk="0" fontAlgn="base" hangingPunct="0">
        <a:spcBef>
          <a:spcPct val="0"/>
        </a:spcBef>
        <a:spcAft>
          <a:spcPts val="600"/>
        </a:spcAft>
        <a:buChar char="–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077913" indent="-363538" algn="l" rtl="0" eaLnBrk="0" fontAlgn="base" hangingPunct="0">
        <a:spcBef>
          <a:spcPct val="0"/>
        </a:spcBef>
        <a:spcAft>
          <a:spcPts val="600"/>
        </a:spcAft>
        <a:buChar char="•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828800" algn="l" rtl="0" eaLnBrk="0" fontAlgn="base" hangingPunct="0">
        <a:spcBef>
          <a:spcPct val="0"/>
        </a:spcBef>
        <a:spcAft>
          <a:spcPct val="0"/>
        </a:spcAft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0" algn="l" rtl="0" eaLnBrk="0" fontAlgn="base" hangingPunct="0">
        <a:spcBef>
          <a:spcPct val="0"/>
        </a:spcBef>
        <a:spcAft>
          <a:spcPct val="0"/>
        </a:spcAft>
        <a:buFont typeface="Arial" pitchFamily="34" charset="0"/>
        <a:buChar char="»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1b022a34dcbf7eb15b3080f70571c89c53db5e51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28ddca48aa4d35a3ea0901a2fa1d7c67763ee65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0e585ad9426c8354dacbac5335298cf4f5ab075a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14c4d656f519c516a3e61935f5be5783ce28fe28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2043c2aefb0c1d681d5245e7e57c8f937308030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b1c44b9435fbaef19803ace00b1cfb8dddf6b576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32df47aace0dc96740990d09d003019e9d947720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54aefcb329be2b586ccd7a484ebc9ad8c7329b7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e45c1f008609bfbba3486270247aa9963e668b8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759708c0c1f27cd900f9fc42df47840b975e3d94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1dd506ad34e6c367866b51b96ade12f79ed7d11e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4a16f7a1fd98d34d42657523f0aaec7717a2a3d.png"/>
</Relationships>

</file>

<file path=ppt/slides/_rels/slide1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07bd3e889726c3071ed9fffc5d76fd389d833cb.png"/>
</Relationships>

</file>

<file path=ppt/slides/_rels/slide2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1deadbd2d417e7a2a0c868da864fc4c7a8b1bfd.png"/>
</Relationships>

</file>

<file path=ppt/slides/_rels/slide2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b5f6269fea49872599f34992546ecb499bc5194f.png"/>
</Relationships>

</file>

<file path=ppt/slides/_rels/slide2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7234f9e3a747d29ffe02ad853e4710d8aacdebb.png"/>
</Relationships>

</file>

<file path=ppt/slides/_rels/slide2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e2cb5e3a7f0dd64051eec8fa86d673e07bb5c2c.png"/>
</Relationships>

</file>

<file path=ppt/slides/_rels/slide2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/Relationships>

</file>

<file path=ppt/slides/_rels/slide2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2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2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106348b0baccd2df3fc9b76c20742068541acad.png"/>
</Relationships>

</file>

<file path=ppt/slides/_rels/slide2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9.xml"/>
<Relationship Id="rId2" Type="http://schemas.openxmlformats.org/officeDocument/2006/relationships/image" Target="../media/4760462d62ee891c9ea652bd55c6f05820e6eaa6.png"/>
<Relationship Id="rId3" Type="http://schemas.openxmlformats.org/officeDocument/2006/relationships/image" Target="../media/bf1cc8c0af76803b9d267c24c414e10b74a468b2.png"/>
<Relationship Id="rId4" Type="http://schemas.openxmlformats.org/officeDocument/2006/relationships/image" Target="../media/10d7acedcc00da83bbb4f5ed76d45db87a8566e9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084825"/>
            <a:ext cx="8915400" cy="2803565"/>
          </a:xfrm>
        </p:spPr>
        <p:txBody>
          <a:bodyPr/>
          <a:lstStyle/>
          <a:p>
            <a:r>
              <a:rPr/>
              <a:t>CPI and IIP 
 ENDOWMENT INVESTMENT</a:t>
            </a:r>
          </a:p>
        </p:txBody>
      </p:sp>
      <p:sp>
        <p:nvSpPr>
          <p:cNvPr id="3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2523000" y="5118820"/>
            <a:ext cx="4860000" cy="384050"/>
          </a:xfrm>
        </p:spPr>
        <p:txBody>
          <a:bodyPr/>
          <a:lstStyle/>
          <a:p>
            <a:r>
              <a:rPr/>
              <a:t>August 20,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CPI Inflation vs. Core CPI Inflation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CPI Components Inflation for July '24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CPI Inflation Attributes Analysis (Jul ' 23 to Jul ' 24)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CPI Components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CPI Attribute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CPI YoY vs. Rolling 3 Months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8915400" cy="762000"/>
          </a:xfrm>
        </p:spPr>
        <p:txBody>
          <a:bodyPr/>
          <a:lstStyle/>
          <a:p>
            <a:r>
              <a:rPr/>
              <a:t>CPI Inflation &amp; Attributes</a:t>
            </a:r>
          </a:p>
        </p:txBody>
      </p:sp>
      <p:graphicFrame>
        <p:nvGraphicFramePr>
          <p:cNvPr id="3" name="Chart Placeholder 10"/>
          <p:cNvGraphicFramePr>
            <a:graphicFrameLocks noGrp="true"/>
          </p:cNvGraphicFramePr>
          <p:nvPr/>
        </p:nvGraphicFramePr>
        <p:xfrm rot="0">
          <a:off x="421210" y="1190537"/>
          <a:ext cx="9140390" cy="2263865"/>
        </p:xfrm>
        <a:graphic>
          <a:graphicData uri="http://schemas.openxmlformats.org/drawingml/2006/table">
            <a:tbl>
              <a:tblPr/>
              <a:tblGrid>
                <a:gridCol w="2606040"/>
                <a:gridCol w="548640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</a:tblGrid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Description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Weight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CPI Inflation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7.44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81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B974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0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C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7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D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E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F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F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D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E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Food and beverages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45.86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10.57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71D3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9.19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64C4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A1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6.29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A1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C664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8.70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594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7.58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37D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78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7.74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78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F71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F71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8.36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5644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F65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Housing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4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4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0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B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F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5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0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F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C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0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FC15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Fuel and light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6.84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C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A8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-0.39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DA4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-0.77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5A0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19E5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8A2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-0.77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5A0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3834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2B7B4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2F7F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080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-5.48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46C36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Clothing and footwear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6.53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5.64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9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7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B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4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D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7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4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1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1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FC15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Pan, tobacco and intoxicants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1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8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2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2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0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C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1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8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9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B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9C35C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Miscellaneous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28.32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CF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4.91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1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4.77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C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4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8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1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CB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C7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C5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C5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3.79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0C95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Placeholder 10"/>
          <p:cNvGraphicFramePr>
            <a:graphicFrameLocks noGrp="true"/>
          </p:cNvGraphicFramePr>
          <p:nvPr/>
        </p:nvGraphicFramePr>
        <p:xfrm rot="0">
          <a:off x="421210" y="3824559"/>
          <a:ext cx="9140390" cy="2263865"/>
        </p:xfrm>
        <a:graphic>
          <a:graphicData uri="http://schemas.openxmlformats.org/drawingml/2006/table">
            <a:tbl>
              <a:tblPr/>
              <a:tblGrid>
                <a:gridCol w="2606040"/>
                <a:gridCol w="548640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</a:tblGrid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Description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Weight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CPI Inflation Attribute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7.44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2A7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AA3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F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7B5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6A9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6A9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9A3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9A2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7A2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5A8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38349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Food and beverages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45.86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4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B2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5AF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B9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CBC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F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5AF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2.21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3AE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2AD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F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5955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Housing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F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9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C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F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F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9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9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7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F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EBC59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Fuel and light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6.84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A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A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8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4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6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8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8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8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2C25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Clothing and footwear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6.53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A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C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A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6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C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C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A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A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8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C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4C25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Pan, tobacco and intoxicants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E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5CE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8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0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0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7CA6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Miscellaneous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28.32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9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1.42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90B8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8AB6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1.57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5BE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B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1.44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93B9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1.44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93B9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89B5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89B5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87B5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1.44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93B9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5AA35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15"/>
          <p:cNvSpPr>
            <a:spLocks noGrp="1"/>
          </p:cNvSpPr>
          <p:nvPr>
            <p:ph type="body" sz="quarter" idx="25" hasCustomPrompt="1"/>
          </p:nvPr>
        </p:nvSpPr>
        <p:spPr>
          <a:xfrm>
            <a:off x="298835" y="980656"/>
            <a:ext cx="8295479" cy="157163"/>
          </a:xfrm>
        </p:spPr>
        <p:txBody>
          <a:bodyPr/>
          <a:lstStyle/>
          <a:p>
            <a:r>
              <a:rPr/>
              <a:t>CPI Inflation</a:t>
            </a:r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26" hasCustomPrompt="1"/>
          </p:nvPr>
        </p:nvSpPr>
        <p:spPr>
          <a:xfrm>
            <a:off x="228303" y="6152647"/>
            <a:ext cx="8295479" cy="157163"/>
          </a:xfrm>
        </p:spPr>
        <p:txBody>
          <a:bodyPr/>
          <a:lstStyle/>
          <a:p>
            <a:r>
              <a:rPr/>
              <a:t>Note 1 (Top Table) : Dark Green - Light Green &lt; 5 &lt; Yellow - Red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228303" y="6411523"/>
            <a:ext cx="8295479" cy="157163"/>
          </a:xfrm>
        </p:spPr>
        <p:txBody>
          <a:bodyPr/>
          <a:lstStyle/>
          <a:p>
            <a:r>
              <a:rPr/>
              <a:t>Note 2 (Bottom Table) : Dark Green - Light Green &lt; July '23 Value &lt; Yellow - Red</a:t>
            </a:r>
          </a:p>
        </p:txBody>
      </p:sp>
      <p:sp>
        <p:nvSpPr>
          <p:cNvPr id="8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298835" y="3586609"/>
            <a:ext cx="8295479" cy="157163"/>
          </a:xfrm>
        </p:spPr>
        <p:txBody>
          <a:bodyPr/>
          <a:lstStyle/>
          <a:p>
            <a:r>
              <a:rPr/>
              <a:t>CPI Inflation Attributes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228303" y="6659565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8915400" cy="762000"/>
          </a:xfrm>
        </p:spPr>
        <p:txBody>
          <a:bodyPr/>
          <a:lstStyle/>
          <a:p>
            <a:r>
              <a:rPr/>
              <a:t>Food and Beverages Inflation</a:t>
            </a:r>
          </a:p>
        </p:txBody>
      </p:sp>
      <p:graphicFrame>
        <p:nvGraphicFramePr>
          <p:cNvPr id="3" name="Chart Placeholder 10"/>
          <p:cNvGraphicFramePr>
            <a:graphicFrameLocks noGrp="true"/>
          </p:cNvGraphicFramePr>
          <p:nvPr/>
        </p:nvGraphicFramePr>
        <p:xfrm rot="0">
          <a:off x="421210" y="1241945"/>
          <a:ext cx="9140390" cy="4989600"/>
        </p:xfrm>
        <a:graphic>
          <a:graphicData uri="http://schemas.openxmlformats.org/drawingml/2006/table">
            <a:tbl>
              <a:tblPr/>
              <a:tblGrid>
                <a:gridCol w="2606040"/>
                <a:gridCol w="548640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</a:tblGrid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Description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Weight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Food and beverages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45.86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10.57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AD5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9.19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7B6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9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6.29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9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E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8.70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9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7.58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7.74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E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E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8.36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B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Cereals and products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13.04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E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11.85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9A5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10.95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AB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10.71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AC5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10.27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7AF5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9.93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7B2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7.65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8.37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B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A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9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8.75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9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8.14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D58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Milk and products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C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7.79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6.95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6.44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8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5.75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C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4.64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E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D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6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2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7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7CA6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Vegetables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6.04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71D3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26.08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5C4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E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4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17.70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78A4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27.64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C54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D57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30.25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474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A51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27.80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B5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27.39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D55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29.32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64C4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65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Prepared meals, snacks, sweets etc.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5.45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E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F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4.96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3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4.73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8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7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5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3.75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2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0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E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C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E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ECC6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Meat and fish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2.25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B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C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E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0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8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C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7.28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2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5.39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F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5.97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B62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Oils and fats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-16.80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46C3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-15.33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733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-14.04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287A4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-13.73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2B7B4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-15.09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21743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-14.96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22743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-14.96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22743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-13.97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297A4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-11.72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6864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-9.43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393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-6.71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8A2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-2.68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8B5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-1.17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DBC59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Fruits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8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5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7.30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2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7B5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11.01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AA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11.08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9AA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A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2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7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7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7.15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3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Spices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F71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23.19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9644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23.11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A634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22.71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B654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73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7E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16.31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B93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D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9A8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7.75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4.27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9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2.06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A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-1.43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9BB59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Pulses and products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D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13.04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E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16.32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B93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18.85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834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20.29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27C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20.73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179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7F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18.90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834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17.77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78A4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16.84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04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17.14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98E4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B94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14.77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C4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Sugar and Confectionery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3.75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2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E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E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8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7.43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1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7.48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7.25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2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B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5.70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D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065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Non-alcoholic beverages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0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0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C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C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7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5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1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F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E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2.29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Egg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A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6.48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5C8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9.30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B6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5.90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5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A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CE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8AC5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AE5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7.13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5C3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6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7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5C65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234872" y="6345027"/>
            <a:ext cx="8295479" cy="157163"/>
          </a:xfrm>
        </p:spPr>
        <p:txBody>
          <a:bodyPr/>
          <a:lstStyle/>
          <a:p>
            <a:r>
              <a:rPr/>
              <a:t>Note : Dark Green - Light Green &lt; 5 &lt; Yellow - Red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229186" y="6590788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8915400" cy="762000"/>
          </a:xfrm>
        </p:spPr>
        <p:txBody>
          <a:bodyPr/>
          <a:lstStyle/>
          <a:p>
            <a:r>
              <a:rPr/>
              <a:t>Food and Beverages Attributes</a:t>
            </a:r>
          </a:p>
        </p:txBody>
      </p:sp>
      <p:graphicFrame>
        <p:nvGraphicFramePr>
          <p:cNvPr id="3" name="Chart Placeholder 10"/>
          <p:cNvGraphicFramePr>
            <a:graphicFrameLocks noGrp="true"/>
          </p:cNvGraphicFramePr>
          <p:nvPr/>
        </p:nvGraphicFramePr>
        <p:xfrm rot="0">
          <a:off x="421210" y="1241945"/>
          <a:ext cx="9140390" cy="4989600"/>
        </p:xfrm>
        <a:graphic>
          <a:graphicData uri="http://schemas.openxmlformats.org/drawingml/2006/table">
            <a:tbl>
              <a:tblPr/>
              <a:tblGrid>
                <a:gridCol w="2606040"/>
                <a:gridCol w="548640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</a:tblGrid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Description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Weight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Food and beverages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45.86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10.57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9.19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2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494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6.29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494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B2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8.70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CBC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7.58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CAB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3AE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7.74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2AD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B0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B0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8.36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CB6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2C7C44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Cereals and products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A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7B0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7B0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7BE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A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ABB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0BC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FBC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3BD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3BD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0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8A255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Milk and products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1.52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1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CB6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CB6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5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5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A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F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F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0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0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AC56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Vegetables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6.04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0B8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0B8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8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E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1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1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5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5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0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7B056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Prepared meals, snacks, sweets etc.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4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B9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B9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A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1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5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5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6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6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2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B156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Meat and fish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C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C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C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8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2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4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4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6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6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F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8BA58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Oils and fats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C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C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C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8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5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2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4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4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6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6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F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8BA58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Fruits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6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6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F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8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8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A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A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4BD5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Spices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A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A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2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9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B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0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0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7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CC05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Pulses and products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F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F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4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B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F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F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2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2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6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EC15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Sugar and Confectionery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9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B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4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Non-alcoholic beverages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9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E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E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E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4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BC75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Egg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1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8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8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D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D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B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B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B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B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B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D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5CD62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234872" y="6345027"/>
            <a:ext cx="8295479" cy="157163"/>
          </a:xfrm>
        </p:spPr>
        <p:txBody>
          <a:bodyPr/>
          <a:lstStyle/>
          <a:p>
            <a:r>
              <a:rPr/>
              <a:t>Note : Dark Green - Light Green &lt;  July '23  Value &lt; Yellow - Red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229186" y="6590788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8915400" cy="762000"/>
          </a:xfrm>
        </p:spPr>
        <p:txBody>
          <a:bodyPr/>
          <a:lstStyle/>
          <a:p>
            <a:r>
              <a:rPr/>
              <a:t>CPI Inflation Ex Food &amp; Beverages - Components</a:t>
            </a:r>
          </a:p>
        </p:txBody>
      </p:sp>
      <p:graphicFrame>
        <p:nvGraphicFramePr>
          <p:cNvPr id="3" name="Chart Placeholder 10"/>
          <p:cNvGraphicFramePr>
            <a:graphicFrameLocks noGrp="true"/>
          </p:cNvGraphicFramePr>
          <p:nvPr/>
        </p:nvGraphicFramePr>
        <p:xfrm rot="0">
          <a:off x="421210" y="1241945"/>
          <a:ext cx="9140390" cy="4989600"/>
        </p:xfrm>
        <a:graphic>
          <a:graphicData uri="http://schemas.openxmlformats.org/drawingml/2006/table">
            <a:tbl>
              <a:tblPr/>
              <a:tblGrid>
                <a:gridCol w="2606040"/>
                <a:gridCol w="548640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</a:tblGrid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Description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Weight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Housing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4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4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0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B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F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5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0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F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C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0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FC15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Fuel and light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6.84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C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A8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-0.39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DA4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-0.77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5A0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19E5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8A2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-0.77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5A0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3834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2B7B4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2F7F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080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-5.48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46C36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Clothing and footwear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6.53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5.64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7AF5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9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7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B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4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D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7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4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1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1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FC15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Clothing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5.58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5.66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AD5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4.64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9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7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3.75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F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6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E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5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4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2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2C25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Footwear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7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E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8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A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2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A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5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E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2.57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C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7BE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1BC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DBC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CBC59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Pan, tobacco and intoxicants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1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8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2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2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0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C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1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8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9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B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9C35C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Miscellaneous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28.32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E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4.91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1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4.77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C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4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8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1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B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7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5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5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3.79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0C95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Transport and communication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A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9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2.28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4BD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BBB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2.09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FBC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BBB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BBB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7BA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1.52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EB7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3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ABF5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Health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6.19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C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6.17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C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5.91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A1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5.88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9A2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7B6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D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4.28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4.27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E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C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4.13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9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7CA6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Education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7B5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5.46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9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5.26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3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D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0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E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4.93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2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4.75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C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A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C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8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6C55D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Personal care and effects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8.90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71D3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8.12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0434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32F4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7.84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950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950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7.28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7644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5.88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9A2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D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7.45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604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D56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3E4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8.44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6344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Household goods and services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7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E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4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7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4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A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3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0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1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A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7BE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5BE5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Recreation and amusement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3.73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CE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CA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C5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C1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D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B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5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0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E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2.57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C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5BE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2BD5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234872" y="6345027"/>
            <a:ext cx="8295479" cy="157163"/>
          </a:xfrm>
        </p:spPr>
        <p:txBody>
          <a:bodyPr/>
          <a:lstStyle/>
          <a:p>
            <a:r>
              <a:rPr/>
              <a:t>Note : Dark Green - Light Green &lt; 5 &lt; Yellow - Red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229186" y="6590788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8915400" cy="762000"/>
          </a:xfrm>
        </p:spPr>
        <p:txBody>
          <a:bodyPr/>
          <a:lstStyle/>
          <a:p>
            <a:r>
              <a:rPr/>
              <a:t>CPI Inflation Ex Food &amp; Beverages - Attributes</a:t>
            </a:r>
          </a:p>
        </p:txBody>
      </p:sp>
      <p:graphicFrame>
        <p:nvGraphicFramePr>
          <p:cNvPr id="3" name="Chart Placeholder 10"/>
          <p:cNvGraphicFramePr>
            <a:graphicFrameLocks noGrp="true"/>
          </p:cNvGraphicFramePr>
          <p:nvPr/>
        </p:nvGraphicFramePr>
        <p:xfrm rot="0">
          <a:off x="421210" y="1241945"/>
          <a:ext cx="9140390" cy="4989600"/>
        </p:xfrm>
        <a:graphic>
          <a:graphicData uri="http://schemas.openxmlformats.org/drawingml/2006/table">
            <a:tbl>
              <a:tblPr/>
              <a:tblGrid>
                <a:gridCol w="2606040"/>
                <a:gridCol w="548640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</a:tblGrid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Description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Weight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  <a:b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Housing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A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D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3B9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BBB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1AD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6A1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B9A5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9995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494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A995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99952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Fuel and light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6.84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78B4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3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-0.39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B1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-0.77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1AD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CAB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6AF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-0.77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1AD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090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8884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B8C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8D4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-5.48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24774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Clothing and footwear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6.53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5.64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0BC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EB7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1AD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EA4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19E5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797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192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E8E4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B8B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A8A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9894C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Clothing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5.58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F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3BD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1B8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6AF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A7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5A1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B9B5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595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192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E8F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E8E4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2.28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8D4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Footwear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4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1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B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E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3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C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6BE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0BC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EBC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ABB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ABB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8BA58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Pan, tobacco and intoxicants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9A7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C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CE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D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2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6BA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DB2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3.11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B2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BAA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AC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B0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FAC56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Miscellaneous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28.32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4.91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4.77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F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6BE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4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AAA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8A2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E9D5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19E5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998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998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3.79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6A956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Transport and communication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1.53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B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1.45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E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A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6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8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CBC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4B9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6BA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0B8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EB7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6BE5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Health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C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7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6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7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1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A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C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6BE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6BE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7C35C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Education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F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9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D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A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E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5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D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8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A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6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6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5C55D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Personal care and effects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F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C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0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D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2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4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F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1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Household goods and services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F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9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0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D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2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4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F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1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Recreation and amusement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4D1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1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E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8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8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0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D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A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A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7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7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DCC6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234872" y="6345027"/>
            <a:ext cx="8295479" cy="157163"/>
          </a:xfrm>
        </p:spPr>
        <p:txBody>
          <a:bodyPr/>
          <a:lstStyle/>
          <a:p>
            <a:r>
              <a:rPr/>
              <a:t>Note : Dark Green - Light Green &lt;  July '23  Value &lt; Yellow - Red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229186" y="6590788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Food and Beverages YoY vs. Rolling 3 Months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Food and Beverages : Essentials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Food and Beverages : Protein Basket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Food and Beverages : Vegetable Basket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Pan, Tobacco and Intoxicants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Clothing and Footwear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Housing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Fuel and Light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Health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Education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Other - Component wise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8915400" cy="762000"/>
          </a:xfrm>
        </p:spPr>
        <p:txBody>
          <a:bodyPr/>
          <a:lstStyle/>
          <a:p>
            <a:r>
              <a:rPr/>
              <a:t>Top 10 Inflators and deflators (Weight adjusted)</a:t>
            </a:r>
          </a:p>
        </p:txBody>
      </p:sp>
      <p:graphicFrame>
        <p:nvGraphicFramePr>
          <p:cNvPr id="3" name="Chart Placeholder 10"/>
          <p:cNvGraphicFramePr>
            <a:graphicFrameLocks noGrp="true"/>
          </p:cNvGraphicFramePr>
          <p:nvPr/>
        </p:nvGraphicFramePr>
        <p:xfrm rot="0">
          <a:off x="305995" y="1009485"/>
          <a:ext cx="9140390" cy="4989600"/>
        </p:xfrm>
        <a:graphic>
          <a:graphicData uri="http://schemas.openxmlformats.org/drawingml/2006/table">
            <a:tbl>
              <a:tblPr/>
              <a:tblGrid>
                <a:gridCol w="1737360"/>
                <a:gridCol w="566928"/>
                <a:gridCol w="1737360"/>
                <a:gridCol w="566928"/>
                <a:gridCol w="1737360"/>
                <a:gridCol w="566928"/>
                <a:gridCol w="1737360"/>
                <a:gridCol w="566928"/>
              </a:tblGrid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Items 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Jun - 24 YoY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Items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Jul - 24 YoY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Items   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Jun - 24 MoM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Items  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Jul - 24 MoM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potato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0.567%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7354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potato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0.646%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71D3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tomato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0.282%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82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tomato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0.241%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98E4C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rice_other sources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0.532%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3F4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rice_other sources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0.477%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84E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onion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0.156%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F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potato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0.164%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D4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onion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0.377%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7644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onion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0.390%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5644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potato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0.119%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AB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telephone charges: mobile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0.149%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A14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house rent; garage rent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0.246%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8D4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house rent; garage rent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0.250%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8B4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brinjal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0.062%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D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onion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0.132%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9A75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garlic (gm)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0.242%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98E4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gold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0.225%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B93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palak/other leafy vegetables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0.051%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cauliflower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0.060%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BE59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arhar; tur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0.214%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B964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milk: liquid (litre)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0.192%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D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other vegetables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0.044%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3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house rent; garage rent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0.053%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6C05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gold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0.212%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74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medicine [non-institutional]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0.185%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D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milk: liquid (litre)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0.042%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4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brinjal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0.045%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25C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electricity (std. unit)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0.198%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B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arhar; tur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0.179%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D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rice_other sources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0.041%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4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rice_other sources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0.036%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65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milk: liquid (litre)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0.189%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D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wheat/atta_other sources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0.178%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D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cauliflower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0.041%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4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peas [Vegetables]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0.034%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75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medicine [non-institutional]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0.186%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D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garlic (gm)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0.170%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A9D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green chillies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0.040%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5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cabbage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0.033%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C75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LPG [excl. conveyance]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-0.319%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46C3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LPG [excl. conveyance]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-0.318%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56C3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house rent; garage rent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-0.064%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5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chicken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-0.053%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1C55D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refined oil [sunflower; soyabe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-0.081%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6BE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tomato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-0.247%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5854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mango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-0.035%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1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mango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-0.017%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petrol for vehicle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-0.044%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jeera (gm)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-0.069%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1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kerosene â€“ PDS (litre)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-0.012%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8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kerosene â€“ PDS (litre)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-0.015%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5CD62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mustard oil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-0.030%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6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refined oil [sunflower; soyabe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-0.061%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8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lemon (no.)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-0.009%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B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lemon (no.)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-0.013%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7CE63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dry chillies (gm)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-0.027%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9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petrol for vehicle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-0.043%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A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parwal/patal; kundru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-0.006%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E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fish; prawn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-0.008%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CCF64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wheat/atta_PDS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-0.017%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dry chillies (gm)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-0.038%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F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jeera (gm)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-0.005%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F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jeera (gm)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-0.005%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FCF64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jeera (gm)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-0.014%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green chillies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-0.037%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0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dry chillies (gm)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guava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D065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coconut: copra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-0.008%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C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apple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-0.024%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C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gold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-0.003%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1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dry chillies (gm)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D065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orange; mausami (no.)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ginger (gm)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-0.024%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C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watermelon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-0.002%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2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leechi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D065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railway fare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-0.004%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0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wheat/atta_PDS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-0.017%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kerosene â€“ other sources (li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-0.002%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other fuel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-0.002%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D06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210743" y="6340288"/>
            <a:ext cx="8295479" cy="157163"/>
          </a:xfrm>
        </p:spPr>
        <p:txBody>
          <a:bodyPr/>
          <a:lstStyle/>
          <a:p>
            <a:r>
              <a:rPr/>
              <a:t>Note : Red - Yellow &lt; 0 &lt; Light Green - Dark Green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229186" y="6590788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8915400" cy="762000"/>
          </a:xfrm>
        </p:spPr>
        <p:txBody>
          <a:bodyPr/>
          <a:lstStyle/>
          <a:p>
            <a:r>
              <a:rPr/>
              <a:t>IIP Growth (YoY)</a:t>
            </a:r>
          </a:p>
        </p:txBody>
      </p:sp>
      <p:graphicFrame>
        <p:nvGraphicFramePr>
          <p:cNvPr id="3" name="Chart Placeholder 10"/>
          <p:cNvGraphicFramePr>
            <a:graphicFrameLocks noGrp="true"/>
          </p:cNvGraphicFramePr>
          <p:nvPr/>
        </p:nvGraphicFramePr>
        <p:xfrm rot="0">
          <a:off x="421210" y="1241945"/>
          <a:ext cx="9140390" cy="4989600"/>
        </p:xfrm>
        <a:graphic>
          <a:graphicData uri="http://schemas.openxmlformats.org/drawingml/2006/table">
            <a:tbl>
              <a:tblPr/>
              <a:tblGrid>
                <a:gridCol w="2606040"/>
                <a:gridCol w="548640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</a:tblGrid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Description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Weight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Jun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Jul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Aug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Sep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Oct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Nov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Dec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Jan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Feb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Mar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Apr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May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Jun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IIP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9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6.18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CBC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10.87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0A6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ABB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11.89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5A1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2.47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0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4.39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5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4.21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7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4BD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5.47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6BE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4.98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D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6.18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CBC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7C35C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IIP Consensus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Mining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14.37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7.56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9B5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10.68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2A7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12.35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19F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11.50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9A2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13.14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B9A5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7.01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1B8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A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EBC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8.13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3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1.30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6.77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4B9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7BA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10.30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7A956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Manufacturing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77.63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2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5.26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9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9.98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BAA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5.13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B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10.58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A8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1.31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4.62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2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3.64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0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4.94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D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5.90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0BC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4.96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DC0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EC85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Electricity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7.99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7C3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7.99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4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15.26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E8E4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9.87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DAB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20.38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D723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2BD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2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4BD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7.59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9B5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8.62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B2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10.24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8A9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13.74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696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8.58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DB257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Used-Based Classification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Primary goods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34.05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5.31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8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7.67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8B5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12.36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19F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8.02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4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11.36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AA3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8.45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B2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0C1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2.94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A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5.93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0BC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3.03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8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7.03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1B8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7.34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CB6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ABB59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Capital goods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8.22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B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5.15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A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13.05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B9B5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8.37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F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21.67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46C3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-1.11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8AF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3.70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F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6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1.72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B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1B8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2.71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2.92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A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2.42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1C95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Intermediate goods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17.22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5.18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A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6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7.37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CB6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6.13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DBC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9.53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AC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3.42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3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3.70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F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5.27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9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8.61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B2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6.15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DBC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6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C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3.11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7C65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Infrastructure/ construction goods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12.34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13.33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9995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12.56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F9E5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15.71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B8B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10.13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9AA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12.61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F9D5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E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6BE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5.48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6BE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8.33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7.43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BB6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8.01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4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6.29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BBB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4.39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5C25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Consumer durables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12.84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-6.78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71D3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-3.62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C694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6.02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EBC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0.97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15.93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A8A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-4.83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A5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9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11.58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8A2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12.56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F9E5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9.53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AC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9.99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BAA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12.63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F9D5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8.65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B156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Consumer non-durables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15.33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B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8.33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80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9.93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6CAB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2.66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CE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9.29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74AE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-3.38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F72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3.04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C8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0D06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-3.17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7A4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9BF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-2.46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99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CF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-1.43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9A55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234872" y="6345027"/>
            <a:ext cx="8295479" cy="157163"/>
          </a:xfrm>
        </p:spPr>
        <p:txBody>
          <a:bodyPr/>
          <a:lstStyle/>
          <a:p>
            <a:r>
              <a:rPr/>
              <a:t>Note : Red - Yellow &lt; 0 &lt; Light Green - Dark Green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229186" y="6590788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8915400" cy="762000"/>
          </a:xfrm>
        </p:spPr>
        <p:txBody>
          <a:bodyPr/>
          <a:lstStyle/>
          <a:p>
            <a:r>
              <a:rPr/>
              <a:t>IIP Growth Attributes</a:t>
            </a:r>
          </a:p>
        </p:txBody>
      </p:sp>
      <p:graphicFrame>
        <p:nvGraphicFramePr>
          <p:cNvPr id="3" name="Chart Placeholder 10"/>
          <p:cNvGraphicFramePr>
            <a:graphicFrameLocks noGrp="true"/>
          </p:cNvGraphicFramePr>
          <p:nvPr/>
        </p:nvGraphicFramePr>
        <p:xfrm rot="0">
          <a:off x="421210" y="1241945"/>
          <a:ext cx="9140390" cy="4989600"/>
        </p:xfrm>
        <a:graphic>
          <a:graphicData uri="http://schemas.openxmlformats.org/drawingml/2006/table">
            <a:tbl>
              <a:tblPr/>
              <a:tblGrid>
                <a:gridCol w="2606040"/>
                <a:gridCol w="548640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</a:tblGrid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Description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Weight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Jun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Jul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Aug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Sep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Oct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Nov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Dec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Jan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Feb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Mar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Apr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May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Jun</a:t>
                      </a:r>
                      <a:b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IIP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CB6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6.18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CA4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10.87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22743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8A2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11.89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46C3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2.47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3C25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4.39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4B3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4.21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8B5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8A9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5.47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BAA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4.98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7B0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6.18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CA45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4.24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7B557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IIP Consensus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Mining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14.37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5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C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B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0.91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C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1.71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7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A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0.60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4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0.80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0.79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0.71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C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4CD62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Manufacturing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77.63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3.14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3BD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4.79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BB1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8.44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D8E4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4.93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B0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9.23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5854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1.92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2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3.41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CBC5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3.27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FBC5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5B4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4.25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7B5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3.86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1B8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4.80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BB15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3.29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FBC5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Electricity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7.99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B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7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D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0.95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A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E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A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B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0.45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8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0.44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8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9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7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BCF64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Used-Based Classification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Primary goods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34.05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0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D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3.70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B95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2.16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B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4.05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CB65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0.84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E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1.49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1.43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E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1.91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2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1.86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4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8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2.10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D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1.44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EC85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Capital goods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8.22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B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0.89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C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0.98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A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0.20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E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A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A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0.46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8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0.45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8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0.41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9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ACF64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Intermediate goods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17.22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0.70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2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1.06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8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1.87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3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1.09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7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2.05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FC4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0.43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8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0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0.72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0.96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A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0.94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B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0.86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D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1.06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8CA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0.73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Infrastructure/ construction goods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12.34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7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0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1.34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1C95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0.78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0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1.47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C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0.69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2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0.68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2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0.61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4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0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Consumer durables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12.84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0.79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1.40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FC8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0.82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1.53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CC7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B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5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0.72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1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0.70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2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0.64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0.79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0.54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CE63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2540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Consumer non-durables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15.33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0.62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4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0.95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A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C8C6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0.97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A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1.82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C5C5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0.38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ACF6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0.67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2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0.64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0.86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D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0.84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ECC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0.76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0CC6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0.95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ACB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38100" marR="381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0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cs typeface="Arial"/>
                          <a:ea typeface="Arial"/>
                          <a:sym typeface="Arial"/>
                        </a:rPr>
                        <a:t>0.65</a:t>
                      </a:r>
                    </a:p>
                  </a:txBody>
                  <a:tcPr anchor="ctr" marB="38100" marT="381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3CD62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234872" y="6345027"/>
            <a:ext cx="8295479" cy="157163"/>
          </a:xfrm>
        </p:spPr>
        <p:txBody>
          <a:bodyPr/>
          <a:lstStyle/>
          <a:p>
            <a:r>
              <a:rPr/>
              <a:t>Note : Red - Yellow &lt; 0 &lt; Light Green - Dark Green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229186" y="6590788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/>
              <a:t>IIP Sector-Wise Growth</a:t>
            </a:r>
          </a:p>
        </p:txBody>
      </p:sp>
      <p:pic>
        <p:nvPicPr>
          <p:cNvPr id="3" name="Chart Placeholder 10" descr=""/>
          <p:cNvPicPr>
            <a:picLocks noGrp="1"/>
          </p:cNvPicPr>
          <p:nvPr>
            <p:ph type="chart" sz="quarter" idx="18"/>
          </p:nvPr>
        </p:nvPicPr>
        <p:blipFill>
          <a:blip cstate="print" r:embed="rId2"/>
          <a:stretch>
            <a:fillRect/>
          </a:stretch>
        </p:blipFill>
        <p:spPr>
          <a:xfrm>
            <a:off x="574830" y="1211437"/>
            <a:ext cx="8871555" cy="4989600"/>
          </a:xfrm>
          <a:prstGeom prst="rect">
            <a:avLst/>
          </a:prstGeom>
        </p:spPr>
      </p:pic>
      <p:sp>
        <p:nvSpPr>
          <p:cNvPr id="4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8915400" cy="762000"/>
          </a:xfrm>
        </p:spPr>
        <p:txBody>
          <a:bodyPr/>
          <a:lstStyle/>
          <a:p>
            <a:r>
              <a:rPr/>
              <a:t>IIP Use-Based Growth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152375" y="1118830"/>
            <a:ext cx="4685405" cy="26209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5068220" y="1120677"/>
            <a:ext cx="4685405" cy="26209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19"/>
          </p:nvPr>
        </p:nvPicPr>
        <p:blipFill>
          <a:blip cstate="print" r:embed="rId4"/>
          <a:stretch>
            <a:fillRect/>
          </a:stretch>
        </p:blipFill>
        <p:spPr>
          <a:xfrm>
            <a:off x="2725517" y="3944202"/>
            <a:ext cx="4685405" cy="2620942"/>
          </a:xfrm>
          <a:prstGeom prst="rect">
            <a:avLst/>
          </a:prstGeom>
        </p:spPr>
      </p:pic>
      <p:sp>
        <p:nvSpPr>
          <p:cNvPr id="6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152376" y="6578880"/>
            <a:ext cx="4860000" cy="157163"/>
          </a:xfrm>
        </p:spPr>
        <p:txBody>
          <a:bodyPr/>
          <a:lstStyle/>
          <a:p>
            <a:r>
              <a:rPr/>
              <a:t>Source: Thurro, MOSPI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jim_Premj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E50D3A180C4340BB3309FA32CE9A38" ma:contentTypeVersion="12" ma:contentTypeDescription="Create a new document." ma:contentTypeScope="" ma:versionID="6cafbccf363a3b59e2d884b988a19fbf">
  <xsd:schema xmlns:xsd="http://www.w3.org/2001/XMLSchema" xmlns:xs="http://www.w3.org/2001/XMLSchema" xmlns:p="http://schemas.microsoft.com/office/2006/metadata/properties" xmlns:ns3="eeb77f7e-5f30-4fb0-9cf8-20cb69266a3f" xmlns:ns4="bbf77d06-8b09-4a8e-80d0-ddfb3462f50c" targetNamespace="http://schemas.microsoft.com/office/2006/metadata/properties" ma:root="true" ma:fieldsID="25df498b5c23c1875f201fb0bc040dae" ns3:_="" ns4:_="">
    <xsd:import namespace="eeb77f7e-5f30-4fb0-9cf8-20cb69266a3f"/>
    <xsd:import namespace="bbf77d06-8b09-4a8e-80d0-ddfb3462f50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b77f7e-5f30-4fb0-9cf8-20cb69266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77d06-8b09-4a8e-80d0-ddfb3462f50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24C58B-843E-4C0C-B555-775889657FB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8957B41-6B5B-4491-9EE7-D9F8A1C1BB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b77f7e-5f30-4fb0-9cf8-20cb69266a3f"/>
    <ds:schemaRef ds:uri="bbf77d06-8b09-4a8e-80d0-ddfb3462f5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337FDA7-97ED-4D6B-AD23-A5AA46282AB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61384</TotalTime>
  <Words>0</Words>
  <Application>Microsoft Office PowerPoint</Application>
  <PresentationFormat>A4 Paper (210x297 mm)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Gill Sans MT</vt:lpstr>
      <vt:lpstr>Times New Roman</vt:lpstr>
      <vt:lpstr>Ajim_Premji</vt:lpstr>
    </vt:vector>
  </TitlesOfParts>
  <Company>Azim Premji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dc:creator>User</dc:creator>
  <cp:lastModifiedBy/>
  <cp:revision>2520</cp:revision>
  <dcterms:created xsi:type="dcterms:W3CDTF">2010-04-16T07:15:01Z</dcterms:created>
  <dcterms:modified xsi:type="dcterms:W3CDTF">2024-08-20T08:18:11Z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0x010100C3E50D3A180C4340BB3309FA32CE9A38</vt:lpwstr>
  </property>
</Properties>
</file>