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10/01/2024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165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275632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54818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317655" y="1213933"/>
            <a:ext cx="9556690" cy="1314592"/>
          </a:xfrm>
          <a:prstGeom prst="rect">
            <a:avLst/>
          </a:prstGeom>
        </p:spPr>
        <p:txBody>
          <a:bodyPr numCol="10" spcCol="180000"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08722" y="96364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317655" y="3106222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8722" y="2857279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559230"/>
            <a:ext cx="7878468" cy="217892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559230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6" name="Table Placeholder 12">
            <a:extLst>
              <a:ext uri="{FF2B5EF4-FFF2-40B4-BE49-F238E27FC236}">
                <a16:creationId xmlns:a16="http://schemas.microsoft.com/office/drawing/2014/main" id="{4909F015-2B79-EBC8-F287-BBA693B84699}"/>
              </a:ext>
            </a:extLst>
          </p:cNvPr>
          <p:cNvSpPr>
            <a:spLocks noGrp="1"/>
          </p:cNvSpPr>
          <p:nvPr>
            <p:ph type="tbl" sz="quarter" idx="51"/>
          </p:nvPr>
        </p:nvSpPr>
        <p:spPr>
          <a:xfrm>
            <a:off x="1317655" y="4997920"/>
            <a:ext cx="9556690" cy="131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0402D6EA-285E-B732-A4DE-E09951A9986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008722" y="4748977"/>
            <a:ext cx="955669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</p:spTree>
    <p:extLst>
      <p:ext uri="{BB962C8B-B14F-4D97-AF65-F5344CB8AC3E}">
        <p14:creationId xmlns:p14="http://schemas.microsoft.com/office/powerpoint/2010/main" val="2714837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6" r:id="rId7"/>
    <p:sldLayoutId id="2147483695" r:id="rId8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1d64756319739887c0db5b9725d28901cfda8c49.png"/>
<Relationship Id="rId3" Type="http://schemas.openxmlformats.org/officeDocument/2006/relationships/image" Target="../media/4a8b7edf105cb575ebb7cf2fba1ca9031cc3c243.png"/>
<Relationship Id="rId4" Type="http://schemas.openxmlformats.org/officeDocument/2006/relationships/image" Target="../media/a9743089d46eb6553cfffaa8ca603ade54d19ad4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d18539f74363bddce0671217ff0bc2082c61eda2.png"/>
<Relationship Id="rId3" Type="http://schemas.openxmlformats.org/officeDocument/2006/relationships/image" Target="../media/8a0f4c36ccef22e56227430704b47ed8507c9758.png"/>
<Relationship Id="rId4" Type="http://schemas.openxmlformats.org/officeDocument/2006/relationships/image" Target="../media/8d797f1b3dfd9c63e49b47feb608a1f785117b29.png"/>
<Relationship Id="rId5" Type="http://schemas.openxmlformats.org/officeDocument/2006/relationships/image" Target="../media/ec6e675172992114b43075528ace3510d50360c6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ac17d461c1889200cd1afc4b0b0aa2df77d233cc.png"/>
<Relationship Id="rId3" Type="http://schemas.openxmlformats.org/officeDocument/2006/relationships/image" Target="../media/cef8890bfa3b1c218eb327347325950fa14952aa.png"/>
<Relationship Id="rId4" Type="http://schemas.openxmlformats.org/officeDocument/2006/relationships/image" Target="../media/f1962ca7e9b50b50d5dbfbbf0b893c248da8039b.png"/>
<Relationship Id="rId5" Type="http://schemas.openxmlformats.org/officeDocument/2006/relationships/image" Target="../media/940a4049a53914635496f46160c1d6470fad95fc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f7f8fd75db9594953b8c2319d9ffb4a490497156.png"/>
<Relationship Id="rId3" Type="http://schemas.openxmlformats.org/officeDocument/2006/relationships/image" Target="../media/2d15e53159b27fc266549b8ab356dd49633103af.png"/>
<Relationship Id="rId4" Type="http://schemas.openxmlformats.org/officeDocument/2006/relationships/image" Target="../media/0f22ca0f53a5c59289a9304774431246a7670ed6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24bb84f52600d8c02cf21b27fd279b2b158ab38.png"/>
<Relationship Id="rId3" Type="http://schemas.openxmlformats.org/officeDocument/2006/relationships/image" Target="../media/e51212d570615b149ebecfa673e1f79207c69e77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d3788222523f3bb8d9e42e4581c70aee5ad98144.png"/>
<Relationship Id="rId3" Type="http://schemas.openxmlformats.org/officeDocument/2006/relationships/image" Target="../media/2cdd16c159914386535e18d0a1df6b9f496e46ae.png"/>
<Relationship Id="rId4" Type="http://schemas.openxmlformats.org/officeDocument/2006/relationships/image" Target="../media/595815ede92c8da9bd78ab89d27f678e204cc78a.png"/>
<Relationship Id="rId5" Type="http://schemas.openxmlformats.org/officeDocument/2006/relationships/image" Target="../media/a0821c7e96b4ecc2537c8472eaeec4482805d347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442dd1945103a0a01f116b6736184dc7907d5cc1.png"/>
<Relationship Id="rId3" Type="http://schemas.openxmlformats.org/officeDocument/2006/relationships/image" Target="../media/281f2867fd718a927088cbee29de512442500eda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8b8c33909db00022b550fd0ff056bf8bf8897ca4.png"/>
<Relationship Id="rId3" Type="http://schemas.openxmlformats.org/officeDocument/2006/relationships/image" Target="../media/404a4c5451a593552c459a2d8c02c970701c2966.png"/>
<Relationship Id="rId4" Type="http://schemas.openxmlformats.org/officeDocument/2006/relationships/image" Target="../media/817e5ebc4264e9539389ec9cf5e5b30a7e65a892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dc17f87f15fc265b020f0ea4d812e5c1b32fbbdd.png"/>
<Relationship Id="rId3" Type="http://schemas.openxmlformats.org/officeDocument/2006/relationships/image" Target="../media/c6e6e4c36748a57048f58ceadcb3c009530353ad.png"/>
<Relationship Id="rId4" Type="http://schemas.openxmlformats.org/officeDocument/2006/relationships/image" Target="../media/39152f1b31d9b551817c6dd7852e29931c3c9489.png"/>
<Relationship Id="rId5" Type="http://schemas.openxmlformats.org/officeDocument/2006/relationships/image" Target="../media/b845eb8e1d276049df6ea995bf2d7864b92287af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5.xml"/>
<Relationship Id="rId2" Type="http://schemas.openxmlformats.org/officeDocument/2006/relationships/image" Target="../media/1c3bb50e18bc45d93bcbca651ac5408823ebf8e6.png"/>
<Relationship Id="rId3" Type="http://schemas.openxmlformats.org/officeDocument/2006/relationships/image" Target="../media/7eabb4f4047184b3f107b48f23f83a3eceeac192.png"/>
<Relationship Id="rId4" Type="http://schemas.openxmlformats.org/officeDocument/2006/relationships/image" Target="../media/3d6d3e9c1bd51793cdd3acef319e5e5fe5eb373d.png"/>
<Relationship Id="rId5" Type="http://schemas.openxmlformats.org/officeDocument/2006/relationships/image" Target="../media/aa113d28545dc42786ce1bc6d552e9f48e5f1a6c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2023-24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(Q4 - FY)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March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 - March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March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 - March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Q4(Jan-Mar)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Q4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Q4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Q4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- Q4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Domestic Sales - FY(Apr-Mar)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FY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FY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FY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FY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Passenger Vehicle: Sub-Category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PVs - Passenger Cars - Q4 Domestic Sales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PVs - Utility Vehicles - Q4 Domestic Sales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PVs - Vans - Q4 Domestic Sales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Vehicles: Sub-Category - Q4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M&amp;HCV - Q4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LCV - Q4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Commercial Vehicles- Passengers &amp; Goods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M&amp;HCV Passenger - Q4 Domestic Sales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M&amp;HCV Goods - Q4 Domestic Sales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LCV Passenger - Q4 Domestic Sales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LCV Goods - Q4 Domestic Sales 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Three Wheelers - Passenger &amp; Goods - Q4 Performance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Three-Wheeler - Passenger - Q4 Domestic Sales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Three-Wheeler - Goods - Q4 Domestic Sales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Two Wheelers Sub-Category - Q4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Two-Wheeler - Scooters - Q4 Performance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 - Motorcycles - Q4 Performance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Two-Wheeler - Mopeds - Q4 Performance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Q4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Exports (Q4)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Exports (Q4)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Exports (Q4)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Vehicle Exports (Q4)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FY(Apr-Mar) Export Performance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5325" y="1563950"/>
            <a:ext cx="4710400" cy="1747242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6"/>
          </p:nvPr>
        </p:nvPicPr>
        <p:blipFill>
          <a:blip cstate="print" r:embed="rId3"/>
          <a:stretch>
            <a:fillRect/>
          </a:stretch>
        </p:blipFill>
        <p:spPr>
          <a:xfrm>
            <a:off x="6551386" y="1563950"/>
            <a:ext cx="4710400" cy="1747242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0"/>
          </p:nvPr>
        </p:nvPicPr>
        <p:blipFill>
          <a:blip cstate="print" r:embed="rId4"/>
          <a:stretch>
            <a:fillRect/>
          </a:stretch>
        </p:blipFill>
        <p:spPr>
          <a:xfrm>
            <a:off x="695325" y="4237608"/>
            <a:ext cx="4710400" cy="1747242"/>
          </a:xfrm>
          <a:prstGeom prst="rect">
            <a:avLst/>
          </a:prstGeom>
        </p:spPr>
      </p:pic>
      <p:pic>
        <p:nvPicPr>
          <p:cNvPr id="6" name="Chart Placeholder 17" descr=""/>
          <p:cNvPicPr>
            <a:picLocks noGrp="1"/>
          </p:cNvPicPr>
          <p:nvPr>
            <p:ph type="chart" sz="quarter" idx="43"/>
          </p:nvPr>
        </p:nvPicPr>
        <p:blipFill>
          <a:blip cstate="print" r:embed="rId5"/>
          <a:stretch>
            <a:fillRect/>
          </a:stretch>
        </p:blipFill>
        <p:spPr>
          <a:xfrm>
            <a:off x="6551386" y="4237608"/>
            <a:ext cx="4710400" cy="1747242"/>
          </a:xfrm>
          <a:prstGeom prst="rect">
            <a:avLst/>
          </a:prstGeom>
        </p:spPr>
      </p:pic>
      <p:sp>
        <p:nvSpPr>
          <p:cNvPr id="7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</p:spPr>
        <p:txBody>
          <a:bodyPr/>
          <a:lstStyle/>
          <a:p>
            <a:r>
              <a:rPr/>
              <a:t>Passenger Vehicle - FY Performance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</p:spPr>
        <p:txBody>
          <a:bodyPr/>
          <a:lstStyle/>
          <a:p>
            <a:r>
              <a:rPr/>
              <a:t>Two-Wheeler - FY Performance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</p:spPr>
        <p:txBody>
          <a:bodyPr/>
          <a:lstStyle/>
          <a:p>
            <a:r>
              <a:rPr/>
              <a:t>Three-Wheeler - FY Performance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</p:spPr>
        <p:txBody>
          <a:bodyPr/>
          <a:lstStyle/>
          <a:p>
            <a:r>
              <a:rPr/>
              <a:t>Commercial  Vehicle - FY Performance</a:t>
            </a:r>
          </a:p>
        </p:txBody>
      </p:sp>
      <p:sp>
        <p:nvSpPr>
          <p:cNvPr id="15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34088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60</cp:revision>
  <cp:lastPrinted>2022-04-13T06:10:10Z</cp:lastPrinted>
  <dcterms:created xsi:type="dcterms:W3CDTF">2018-10-06T06:23:07Z</dcterms:created>
  <dcterms:modified xsi:type="dcterms:W3CDTF">2024-03-29T13:39:49Z</dcterms:modified>
</cp:coreProperties>
</file>